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85" r:id="rId6"/>
    <p:sldId id="281" r:id="rId7"/>
    <p:sldId id="288" r:id="rId8"/>
    <p:sldId id="289" r:id="rId9"/>
    <p:sldId id="291" r:id="rId10"/>
    <p:sldId id="287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14" autoAdjust="0"/>
    <p:restoredTop sz="94492" autoAdjust="0"/>
  </p:normalViewPr>
  <p:slideViewPr>
    <p:cSldViewPr>
      <p:cViewPr varScale="1">
        <p:scale>
          <a:sx n="111" d="100"/>
          <a:sy n="111" d="100"/>
        </p:scale>
        <p:origin x="162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E03B7-B591-4A2A-B695-014C5A39F13E}" type="datetimeFigureOut">
              <a:rPr lang="en-US"/>
              <a:t>9/26/2026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322BB-75AD-4A1E-9661-2724167329F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705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BD7B-E4FB-4AA8-9540-FD148073ACB3}" type="datetimeFigureOut">
              <a:rPr lang="en-US"/>
              <a:t>9/26/2026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5B7DE-1198-4F2F-B574-CA8CAE34164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31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1135743"/>
            <a:ext cx="1622332" cy="799981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4" y="362396"/>
            <a:ext cx="9141619" cy="16764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2089595"/>
            <a:ext cx="9141619" cy="886344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051-6E81-43E8-9099-FF6A0C3DCFE8}" type="datetime1">
              <a:rPr lang="en-US"/>
              <a:t>9/26/2026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751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3EA6D-DF0B-4D4B-B359-5F1D1D0E30A4}" type="datetime1">
              <a:rPr lang="en-US"/>
              <a:t>9/26/2026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15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3124415"/>
            <a:ext cx="1622332" cy="805061"/>
            <a:chOff x="0" y="2343311"/>
            <a:chExt cx="1217066" cy="603796"/>
          </a:xfrm>
        </p:grpSpPr>
        <p:sp>
          <p:nvSpPr>
            <p:cNvPr id="8" name="Rounded Rectangle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9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0" name="Freeform 19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324" y="1932518"/>
            <a:ext cx="9141619" cy="2105367"/>
          </a:xfrm>
        </p:spPr>
        <p:txBody>
          <a:bodyPr anchor="b">
            <a:normAutofit/>
          </a:bodyPr>
          <a:lstStyle>
            <a:lvl1pPr algn="l">
              <a:defRPr sz="60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324" y="4084264"/>
            <a:ext cx="9141619" cy="933297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EDB99-15BC-4479-BAC5-1E502E66917A}" type="datetime1">
              <a:rPr lang="en-US"/>
              <a:t>9/26/2026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6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C2A3-CD19-48AB-9F64-ECCF75182EDD}" type="datetime1">
              <a:rPr lang="en-US"/>
              <a:t>9/26/2026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77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E8C1-7C87-4705-AB97-8CD17D208E3F}" type="datetime1">
              <a:rPr lang="en-US"/>
              <a:t>9/26/2026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703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C624E-DF92-4841-B9B9-DD11AA239B85}" type="datetime1">
              <a:rPr lang="en-US"/>
              <a:t>9/26/2026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0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9" name="Freeform 8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3AE1-4360-4D5B-BDBC-656B872DD533}" type="datetime1">
              <a:rPr lang="en-US"/>
              <a:t>9/26/2026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539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530" y="1600200"/>
            <a:ext cx="6094413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3" y="1600202"/>
            <a:ext cx="3453500" cy="45719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90708-46A4-4851-883E-8DFB8939107E}" type="datetime1">
              <a:rPr lang="en-US"/>
              <a:t>9/26/2026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396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18887" y="1600200"/>
            <a:ext cx="6703850" cy="3657600"/>
          </a:xfrm>
          <a:prstGeom prst="roundRect">
            <a:avLst>
              <a:gd name="adj" fmla="val 309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600200"/>
            <a:ext cx="2844059" cy="3759200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EFFC-86AE-4294-A319-CAFC2651994B}" type="datetime1">
              <a:rPr lang="en-US"/>
              <a:t>9/26/2026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9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EAB04-7709-4C1E-A61A-74684A0170FC}" type="datetime1">
              <a:rPr lang="en-US"/>
              <a:t>9/26/2026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082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 rot="5400000">
            <a:off x="9583007" y="233864"/>
            <a:ext cx="1063300" cy="524046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" name="bottom graphic"/>
          <p:cNvGrpSpPr/>
          <p:nvPr/>
        </p:nvGrpSpPr>
        <p:grpSpPr>
          <a:xfrm>
            <a:off x="0" y="5395517"/>
            <a:ext cx="12188825" cy="1462483"/>
            <a:chOff x="0" y="4046638"/>
            <a:chExt cx="9144000" cy="1096862"/>
          </a:xfrm>
        </p:grpSpPr>
        <p:sp>
          <p:nvSpPr>
            <p:cNvPr id="16" name="Freeform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1060" y="1150514"/>
            <a:ext cx="1828324" cy="50216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1150514"/>
            <a:ext cx="8227457" cy="502168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9BD0D-E0B1-4CED-AC65-708AC79EB9CD}" type="datetime1">
              <a:rPr lang="en-US"/>
              <a:t>9/26/2026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64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1" name="Freeform 20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grpSp>
        <p:nvGrpSpPr>
          <p:cNvPr id="7" name="squares"/>
          <p:cNvGrpSpPr/>
          <p:nvPr/>
        </p:nvGrpSpPr>
        <p:grpSpPr>
          <a:xfrm>
            <a:off x="1" y="800551"/>
            <a:ext cx="1063023" cy="524183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600200"/>
            <a:ext cx="9751060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883" y="6448425"/>
            <a:ext cx="8288401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7913" y="6448425"/>
            <a:ext cx="142203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29E8617-6EA8-4B97-A5E8-E18E98765EE2}" type="datetime1">
              <a:rPr lang="en-US"/>
              <a:pPr/>
              <a:t>9/26/2026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516" y="6448425"/>
            <a:ext cx="812588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4C99D79-8A4B-4031-B1E0-AF26F8EDF2B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268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55772" indent="-304747" algn="l" defTabSz="1218987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067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8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088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7" Type="http://schemas.openxmlformats.org/officeDocument/2006/relationships/image" Target="../media/image5.png"/><Relationship Id="rId2" Type="http://schemas.microsoft.com/office/2007/relationships/media" Target="../media/media3.m4a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audio" Target="../media/media3.m4a"/><Relationship Id="rId7" Type="http://schemas.openxmlformats.org/officeDocument/2006/relationships/image" Target="../media/image8.png"/><Relationship Id="rId2" Type="http://schemas.microsoft.com/office/2007/relationships/media" Target="../media/media3.m4a"/><Relationship Id="rId1" Type="http://schemas.openxmlformats.org/officeDocument/2006/relationships/tags" Target="../tags/tag5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Eleventh ISIC Skin Image Analysis Workshop @MICCAI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293812" y="2209800"/>
            <a:ext cx="4343400" cy="3581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/>
              <a:t>Organizers</a:t>
            </a:r>
            <a:r>
              <a:rPr lang="en-US" sz="9600" dirty="0"/>
              <a:t>:</a:t>
            </a:r>
          </a:p>
          <a:p>
            <a:pPr marL="0" indent="0">
              <a:buNone/>
            </a:pPr>
            <a:r>
              <a:rPr lang="en-US" sz="9600" b="1" dirty="0"/>
              <a:t>M. Emre Celebi</a:t>
            </a:r>
            <a:br>
              <a:rPr lang="en-US" sz="9600" dirty="0"/>
            </a:br>
            <a:r>
              <a:rPr lang="en-US" sz="9600" b="1" dirty="0"/>
              <a:t>Kumar Abhishek</a:t>
            </a:r>
            <a:br>
              <a:rPr lang="en-US" sz="9600" dirty="0"/>
            </a:br>
            <a:r>
              <a:rPr lang="en-US" sz="9600" dirty="0"/>
              <a:t>Catarina Barata</a:t>
            </a:r>
            <a:br>
              <a:rPr lang="en-US" sz="9600" dirty="0"/>
            </a:br>
            <a:r>
              <a:rPr lang="en-US" sz="9600" dirty="0"/>
              <a:t>Allan Halpern </a:t>
            </a:r>
            <a:br>
              <a:rPr lang="en-US" sz="9600" dirty="0"/>
            </a:br>
            <a:r>
              <a:rPr lang="en-US" sz="9600" dirty="0"/>
              <a:t>Philipp </a:t>
            </a:r>
            <a:r>
              <a:rPr lang="en-US" sz="9600" dirty="0" err="1"/>
              <a:t>Tschandl</a:t>
            </a:r>
            <a:br>
              <a:rPr lang="en-US" sz="9600" dirty="0"/>
            </a:br>
            <a:r>
              <a:rPr lang="en-US" sz="9600" dirty="0"/>
              <a:t>Marc </a:t>
            </a:r>
            <a:r>
              <a:rPr lang="en-US" sz="9600" dirty="0" err="1"/>
              <a:t>Combalia</a:t>
            </a:r>
            <a:r>
              <a:rPr lang="en-US" sz="9600" dirty="0"/>
              <a:t> </a:t>
            </a:r>
            <a:br>
              <a:rPr lang="en-US" sz="9600" dirty="0"/>
            </a:br>
            <a:r>
              <a:rPr lang="en-US" sz="9600" dirty="0"/>
              <a:t>Yuan Liu</a:t>
            </a:r>
            <a:br>
              <a:rPr lang="en-US" sz="9600" dirty="0"/>
            </a:br>
            <a:r>
              <a:rPr lang="en-US" sz="9600" dirty="0"/>
              <a:t>Joanna Jaworek-</a:t>
            </a:r>
            <a:r>
              <a:rPr lang="en-US" sz="9600" dirty="0" err="1"/>
              <a:t>Korjakowska</a:t>
            </a:r>
            <a:br>
              <a:rPr lang="en-US" sz="9600" dirty="0"/>
            </a:br>
            <a:r>
              <a:rPr lang="en-US" sz="9600" dirty="0"/>
              <a:t>Moi Hoon Yap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9A414-1B9A-4F8C-A201-2F6F82F075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436" y="1676400"/>
            <a:ext cx="4507576" cy="3841727"/>
          </a:xfrm>
          <a:prstGeom prst="rect">
            <a:avLst/>
          </a:prstGeom>
        </p:spPr>
      </p:pic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B257EF74-DB77-4052-B7D7-92F66285CF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1625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1026">
        <p:fade/>
      </p:transition>
    </mc:Choice>
    <mc:Fallback xmlns="">
      <p:transition spd="med" advTm="21026">
        <p:fade/>
      </p:transition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ISIC Challenges &amp; Workshops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9982200" cy="4572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dirty="0"/>
              <a:t>Skin Lesion Analysis Towards Melanoma Detection</a:t>
            </a:r>
            <a:r>
              <a:rPr lang="en-US" i="1" dirty="0"/>
              <a:t>/</a:t>
            </a:r>
            <a:r>
              <a:rPr lang="en-US" b="1" i="1" dirty="0"/>
              <a:t>Skin Image Analysis</a:t>
            </a:r>
          </a:p>
          <a:p>
            <a:pPr marL="0" indent="0">
              <a:buNone/>
            </a:pPr>
            <a:r>
              <a:rPr lang="en-US" b="1" dirty="0"/>
              <a:t>Organizers</a:t>
            </a:r>
            <a:r>
              <a:rPr lang="en-US" dirty="0"/>
              <a:t>: Celebi, Abhishek, Barata, Codella, </a:t>
            </a:r>
            <a:r>
              <a:rPr lang="en-US" dirty="0" err="1"/>
              <a:t>Combalia</a:t>
            </a:r>
            <a:r>
              <a:rPr lang="en-US" dirty="0"/>
              <a:t>, Dana, Gutman, Halpern, </a:t>
            </a:r>
            <a:r>
              <a:rPr lang="en-US" dirty="0" err="1"/>
              <a:t>Helba</a:t>
            </a:r>
            <a:r>
              <a:rPr lang="en-US" dirty="0"/>
              <a:t>, Jaworek-</a:t>
            </a:r>
            <a:r>
              <a:rPr lang="en-US" dirty="0" err="1"/>
              <a:t>Korjakowska</a:t>
            </a:r>
            <a:r>
              <a:rPr lang="en-US" dirty="0"/>
              <a:t>, Kittler, Liu, </a:t>
            </a:r>
            <a:r>
              <a:rPr lang="en-US" dirty="0" err="1"/>
              <a:t>Rotemberg</a:t>
            </a:r>
            <a:r>
              <a:rPr lang="en-US" dirty="0"/>
              <a:t>, </a:t>
            </a:r>
            <a:r>
              <a:rPr lang="en-US" dirty="0" err="1"/>
              <a:t>Tschandl</a:t>
            </a:r>
            <a:r>
              <a:rPr lang="en-US" dirty="0"/>
              <a:t>, Yap, etc.</a:t>
            </a:r>
            <a:endParaRPr lang="en-US" i="1" dirty="0"/>
          </a:p>
          <a:p>
            <a:r>
              <a:rPr lang="en-US" dirty="0"/>
              <a:t>IEEE Int. </a:t>
            </a:r>
            <a:r>
              <a:rPr lang="en-US" dirty="0" err="1"/>
              <a:t>Symp</a:t>
            </a:r>
            <a:r>
              <a:rPr lang="en-US" dirty="0"/>
              <a:t>. on Biomedical Imaging (ISBI 2016, 2017)</a:t>
            </a:r>
          </a:p>
          <a:p>
            <a:r>
              <a:rPr lang="en-US" dirty="0"/>
              <a:t>Int. Conf. on Medical Image Computing &amp; Computer Assisted Intervention (MICCAI 2018, 2019, 2020, 2023, 2024, 2025, </a:t>
            </a:r>
            <a:r>
              <a:rPr lang="en-US" b="1" dirty="0">
                <a:solidFill>
                  <a:srgbClr val="FF0000"/>
                </a:solidFill>
              </a:rPr>
              <a:t>2026</a:t>
            </a:r>
            <a:r>
              <a:rPr lang="en-US" dirty="0"/>
              <a:t>)</a:t>
            </a:r>
          </a:p>
          <a:p>
            <a:r>
              <a:rPr lang="en-US" dirty="0"/>
              <a:t>IEEE/CVF Conf. on Computer Vision &amp; Pattern Recognition (CVPR 2019, 2020, 2021)</a:t>
            </a:r>
          </a:p>
          <a:p>
            <a:r>
              <a:rPr lang="en-US" dirty="0"/>
              <a:t>European Conference on Computer Vision (ECCV 2022)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493BEE90-1FB1-4652-A9BC-35D7290C948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1625" y="6400800"/>
            <a:ext cx="304800" cy="304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3138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1246">
        <p:fade/>
      </p:transition>
    </mc:Choice>
    <mc:Fallback xmlns="">
      <p:transition spd="med" advTm="5124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Workshop Statistics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9982200" cy="4572000"/>
          </a:xfrm>
        </p:spPr>
        <p:txBody>
          <a:bodyPr>
            <a:normAutofit/>
          </a:bodyPr>
          <a:lstStyle/>
          <a:p>
            <a:r>
              <a:rPr lang="en-US" dirty="0"/>
              <a:t>38 submissions received</a:t>
            </a:r>
          </a:p>
          <a:p>
            <a:r>
              <a:rPr lang="en-US" dirty="0"/>
              <a:t>7 submissions accepted (≈18%)</a:t>
            </a:r>
          </a:p>
          <a:p>
            <a:r>
              <a:rPr lang="en-US" dirty="0"/>
              <a:t>30 reviewers</a:t>
            </a:r>
          </a:p>
          <a:p>
            <a:r>
              <a:rPr lang="en-US" dirty="0"/>
              <a:t>≈3.6 reviews per submission</a:t>
            </a:r>
          </a:p>
          <a:p>
            <a:r>
              <a:rPr lang="en-US" dirty="0"/>
              <a:t>≈2.3 submissions per reviewer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BCB30358-553D-4CE1-83C8-CE7DF4DFDF7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1625" y="6400800"/>
            <a:ext cx="304800" cy="304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1865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3900">
        <p:fade/>
      </p:transition>
    </mc:Choice>
    <mc:Fallback xmlns="">
      <p:transition spd="med" advTm="239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Workshop Statistics: Submitting Authors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BCB30358-553D-4CE1-83C8-CE7DF4DFDF7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1625" y="6400800"/>
            <a:ext cx="304800" cy="304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78D9E7-C070-56B0-A575-E9401EE626F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99" y="1535103"/>
            <a:ext cx="6264000" cy="40929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800DB0-E8F2-7EAF-29A1-7A2BA565017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012" y="1535103"/>
            <a:ext cx="3949246" cy="50339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8327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3900">
        <p:fade/>
      </p:transition>
    </mc:Choice>
    <mc:Fallback xmlns="">
      <p:transition spd="med" advTm="23900">
        <p:fade/>
      </p:transition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Workshop Statistics: Keywords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BCB30358-553D-4CE1-83C8-CE7DF4DFDF7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1625" y="6400800"/>
            <a:ext cx="304800" cy="30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AE0F05-C323-1E20-6CED-E0C3D4D34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8212" y="1658096"/>
            <a:ext cx="7467600" cy="36925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123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3900">
        <p:fade/>
      </p:transition>
    </mc:Choice>
    <mc:Fallback xmlns="">
      <p:transition spd="med" advTm="23900">
        <p:fade/>
      </p:transition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Usage in Peer-Reviewing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BCB30358-553D-4CE1-83C8-CE7DF4DFDF7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1625" y="6400800"/>
            <a:ext cx="304800" cy="304800"/>
          </a:xfrm>
          <a:prstGeom prst="rect">
            <a:avLst/>
          </a:prstGeom>
        </p:spPr>
      </p:pic>
      <p:pic>
        <p:nvPicPr>
          <p:cNvPr id="13" name="Picture 12" descr="Pangram Launches New World's Best AI Detector, Expands to Images Backed by  $9M From Menlo Ventures">
            <a:extLst>
              <a:ext uri="{FF2B5EF4-FFF2-40B4-BE49-F238E27FC236}">
                <a16:creationId xmlns:a16="http://schemas.microsoft.com/office/drawing/2014/main" id="{34F91BC4-F8FD-EA09-F027-1E3BD064CF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6325" y="4313"/>
            <a:ext cx="3352500" cy="8905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B632AB-7721-D1F5-2FD3-85995AAEE90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8352" y="1295401"/>
            <a:ext cx="5486411" cy="54864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2D878B-D1C7-8DA3-9FA7-DCBC809F21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843" y="1295400"/>
            <a:ext cx="5486411" cy="54864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BFC224A-33CB-6A64-DEE2-CE110A2D249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827" y="1295400"/>
            <a:ext cx="5486411" cy="548641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BAF9AF9-2734-53B4-0601-BE47F31A1B8C}"/>
              </a:ext>
            </a:extLst>
          </p:cNvPr>
          <p:cNvSpPr txBox="1"/>
          <p:nvPr/>
        </p:nvSpPr>
        <p:spPr>
          <a:xfrm>
            <a:off x="379412" y="1752600"/>
            <a:ext cx="388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Did reviewers use AI in any of their review?</a:t>
            </a:r>
            <a:endParaRPr lang="en-CA" sz="2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CD71FB-834D-3595-DEB4-9CE1A5688447}"/>
              </a:ext>
            </a:extLst>
          </p:cNvPr>
          <p:cNvSpPr txBox="1"/>
          <p:nvPr/>
        </p:nvSpPr>
        <p:spPr>
          <a:xfrm>
            <a:off x="4261579" y="1752599"/>
            <a:ext cx="388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Breakdown of AI usage</a:t>
            </a:r>
          </a:p>
          <a:p>
            <a:pPr algn="ctr"/>
            <a:r>
              <a:rPr lang="en-US" sz="2200" dirty="0"/>
              <a:t>in reviews</a:t>
            </a:r>
            <a:endParaRPr lang="en-CA" sz="2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A2EAA4-413F-8055-7E3E-A89A0A8D36AC}"/>
              </a:ext>
            </a:extLst>
          </p:cNvPr>
          <p:cNvSpPr txBox="1"/>
          <p:nvPr/>
        </p:nvSpPr>
        <p:spPr>
          <a:xfrm>
            <a:off x="7845425" y="1752599"/>
            <a:ext cx="388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Extent of AI usage</a:t>
            </a:r>
          </a:p>
          <a:p>
            <a:pPr algn="ctr"/>
            <a:r>
              <a:rPr lang="en-US" sz="2200" dirty="0"/>
              <a:t>in </a:t>
            </a:r>
            <a:r>
              <a:rPr lang="en-US" sz="2200" dirty="0">
                <a:highlight>
                  <a:srgbClr val="FF0000"/>
                </a:highlight>
              </a:rPr>
              <a:t>flagged</a:t>
            </a:r>
            <a:r>
              <a:rPr lang="en-US" sz="2200" dirty="0"/>
              <a:t> reviews</a:t>
            </a:r>
            <a:endParaRPr lang="en-CA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813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3900">
        <p:fade/>
      </p:transition>
    </mc:Choice>
    <mc:Fallback xmlns="">
      <p:transition spd="med" advTm="23900">
        <p:fade/>
      </p:transition>
    </mc:Fallback>
  </mc:AlternateContent>
  <p:timing>
    <p:tnLst>
      <p:par>
        <p:cTn id="1" dur="indefinite" restart="never" nodeType="tmRoot">
          <p:childTnLst>
            <p:audio isNarration="1">
              <p:cMediaNode vol="80000" showWhenStopped="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10363200" cy="1295400"/>
          </a:xfrm>
        </p:spPr>
        <p:txBody>
          <a:bodyPr>
            <a:normAutofit/>
          </a:bodyPr>
          <a:lstStyle/>
          <a:p>
            <a:r>
              <a:rPr lang="en-US" dirty="0"/>
              <a:t>Workshop Program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9982200" cy="4572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9E36FC"/>
                </a:solidFill>
              </a:rPr>
              <a:t>Opening </a:t>
            </a:r>
            <a:r>
              <a:rPr lang="en-US" dirty="0" err="1">
                <a:solidFill>
                  <a:srgbClr val="9E36FC"/>
                </a:solidFill>
              </a:rPr>
              <a:t>Rmks</a:t>
            </a:r>
            <a:r>
              <a:rPr lang="en-US" dirty="0">
                <a:solidFill>
                  <a:srgbClr val="9E36FC"/>
                </a:solidFill>
              </a:rPr>
              <a:t>. (1:30−40)</a:t>
            </a:r>
            <a:r>
              <a:rPr lang="en-US" dirty="0"/>
              <a:t>	    </a:t>
            </a:r>
            <a:r>
              <a:rPr lang="en-US" dirty="0">
                <a:solidFill>
                  <a:srgbClr val="00FF00"/>
                </a:solidFill>
              </a:rPr>
              <a:t>Inv. Talk 1 (1:40−2:10)</a:t>
            </a:r>
          </a:p>
          <a:p>
            <a:r>
              <a:rPr lang="en-US" dirty="0">
                <a:solidFill>
                  <a:schemeClr val="accent3"/>
                </a:solidFill>
              </a:rPr>
              <a:t>Oral Pres. 1 (2:10−25) </a:t>
            </a:r>
            <a:r>
              <a:rPr lang="en-US" dirty="0">
                <a:solidFill>
                  <a:srgbClr val="FF0000"/>
                </a:solidFill>
              </a:rPr>
              <a:t>		    </a:t>
            </a:r>
            <a:r>
              <a:rPr lang="en-US" dirty="0">
                <a:solidFill>
                  <a:srgbClr val="0000FF"/>
                </a:solidFill>
              </a:rPr>
              <a:t>Short Break 1 (2:25−55)</a:t>
            </a:r>
          </a:p>
          <a:p>
            <a:r>
              <a:rPr lang="en-US" dirty="0">
                <a:solidFill>
                  <a:schemeClr val="accent3"/>
                </a:solidFill>
              </a:rPr>
              <a:t>Oral Pres. 2 (2:55−3:10)</a:t>
            </a:r>
            <a:r>
              <a:rPr lang="en-US" dirty="0"/>
              <a:t>	    </a:t>
            </a:r>
            <a:r>
              <a:rPr lang="en-US" dirty="0">
                <a:solidFill>
                  <a:srgbClr val="FF0000"/>
                </a:solidFill>
              </a:rPr>
              <a:t>Spotlight Pres. 1 (3:10−3:20)</a:t>
            </a:r>
          </a:p>
          <a:p>
            <a:r>
              <a:rPr lang="en-US" dirty="0">
                <a:solidFill>
                  <a:srgbClr val="FF0000"/>
                </a:solidFill>
              </a:rPr>
              <a:t>Spotlight Pres. 2 (3:20 −3:30)</a:t>
            </a:r>
            <a:r>
              <a:rPr lang="en-US" dirty="0">
                <a:solidFill>
                  <a:schemeClr val="accent3"/>
                </a:solidFill>
              </a:rPr>
              <a:t>      </a:t>
            </a:r>
            <a:r>
              <a:rPr lang="en-US" dirty="0">
                <a:solidFill>
                  <a:srgbClr val="00B0F0"/>
                </a:solidFill>
              </a:rPr>
              <a:t>Coffee Break (3:30−4:30)</a:t>
            </a:r>
            <a:endParaRPr lang="en-US" dirty="0">
              <a:solidFill>
                <a:schemeClr val="accent3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Oral Pres. 3 (4:30−4:45)</a:t>
            </a:r>
            <a:r>
              <a:rPr lang="en-US" dirty="0"/>
              <a:t> 	    </a:t>
            </a:r>
            <a:r>
              <a:rPr lang="en-US" dirty="0">
                <a:solidFill>
                  <a:srgbClr val="FF0000"/>
                </a:solidFill>
              </a:rPr>
              <a:t>Spotlight Pres. 3 (4:45−4:55)</a:t>
            </a:r>
          </a:p>
          <a:p>
            <a:r>
              <a:rPr lang="en-US" dirty="0">
                <a:solidFill>
                  <a:srgbClr val="FF0000"/>
                </a:solidFill>
              </a:rPr>
              <a:t>Spotlight Pres. 4 (4:55 −5:05)</a:t>
            </a:r>
            <a:r>
              <a:rPr lang="en-US" dirty="0">
                <a:solidFill>
                  <a:schemeClr val="accent3"/>
                </a:solidFill>
              </a:rPr>
              <a:t>      Panel Discussion (5:05−5:50)</a:t>
            </a:r>
            <a:r>
              <a:rPr lang="en-US" dirty="0"/>
              <a:t>        </a:t>
            </a:r>
          </a:p>
          <a:p>
            <a:r>
              <a:rPr lang="en-US" dirty="0">
                <a:solidFill>
                  <a:srgbClr val="9E36FC"/>
                </a:solidFill>
              </a:rPr>
              <a:t>Closing </a:t>
            </a:r>
            <a:r>
              <a:rPr lang="en-US" dirty="0" err="1">
                <a:solidFill>
                  <a:srgbClr val="9E36FC"/>
                </a:solidFill>
              </a:rPr>
              <a:t>Rmks</a:t>
            </a:r>
            <a:r>
              <a:rPr lang="en-US" dirty="0">
                <a:solidFill>
                  <a:srgbClr val="9E36FC"/>
                </a:solidFill>
              </a:rPr>
              <a:t>. </a:t>
            </a:r>
            <a:r>
              <a:rPr lang="en-US">
                <a:solidFill>
                  <a:srgbClr val="9E36FC"/>
                </a:solidFill>
              </a:rPr>
              <a:t>(5:50−</a:t>
            </a:r>
            <a:r>
              <a:rPr lang="en-US" dirty="0">
                <a:solidFill>
                  <a:srgbClr val="9E36FC"/>
                </a:solidFill>
              </a:rPr>
              <a:t>6:00)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2E1125CC-30FC-4145-B061-3BB43246C217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1625" y="6400800"/>
            <a:ext cx="304800" cy="304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0223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5746">
        <p:fade/>
      </p:transition>
    </mc:Choice>
    <mc:Fallback xmlns="">
      <p:transition spd="med" advTm="8574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5|8.5|0.3|1.3|3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7.3|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7.3|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7.3|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7.3|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3|18.4|7.7|25.2|9.1"/>
</p:tagLst>
</file>

<file path=ppt/theme/theme1.xml><?xml version="1.0" encoding="utf-8"?>
<a:theme xmlns:a="http://schemas.openxmlformats.org/drawingml/2006/main" name="Cooking 16x9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sh food presentation (widescreen).potx" id="{63DD3034-9CB5-4B6F-BCA0-530A5E267AB2}" vid="{9783A5E3-1DF2-4F3C-8902-0C2EB8A188D6}"/>
    </a:ext>
  </a:extLst>
</a:theme>
</file>

<file path=ppt/theme/theme2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700CCB-20BA-4760-AB9F-AC3B63ED32E0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B14945D-DABB-422F-9B28-D299995C92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8942AA-0721-4324-BC2C-A3CB43F24E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Fresh food presentation (widescreen)</Template>
  <TotalTime>1866</TotalTime>
  <Words>339</Words>
  <Application>Microsoft Office PowerPoint</Application>
  <PresentationFormat>Custom</PresentationFormat>
  <Paragraphs>32</Paragraphs>
  <Slides>7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Constantia</vt:lpstr>
      <vt:lpstr>Cooking 16x9</vt:lpstr>
      <vt:lpstr>Eleventh ISIC Skin Image Analysis Workshop @MICCAI 2026</vt:lpstr>
      <vt:lpstr>ISIC Challenges &amp; Workshops</vt:lpstr>
      <vt:lpstr>Workshop Statistics</vt:lpstr>
      <vt:lpstr>Workshop Statistics: Submitting Authors</vt:lpstr>
      <vt:lpstr>Workshop Statistics: Keywords</vt:lpstr>
      <vt:lpstr>AI Usage in Peer-Reviewing</vt:lpstr>
      <vt:lpstr>Workshop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Fifth ISIC Skin Image Analysis Workshop @CVPR 2020</dc:title>
  <dc:creator>Emre Celebi</dc:creator>
  <cp:lastModifiedBy>Kumar</cp:lastModifiedBy>
  <cp:revision>247</cp:revision>
  <dcterms:created xsi:type="dcterms:W3CDTF">2020-06-13T12:20:35Z</dcterms:created>
  <dcterms:modified xsi:type="dcterms:W3CDTF">2026-09-26T10:27:36Z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